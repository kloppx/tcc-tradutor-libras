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57" r:id="rId7"/>
    <p:sldId id="258" r:id="rId8"/>
    <p:sldId id="292" r:id="rId9"/>
    <p:sldId id="293" r:id="rId10"/>
    <p:sldId id="286" r:id="rId11"/>
    <p:sldId id="288" r:id="rId12"/>
    <p:sldId id="296" r:id="rId13"/>
    <p:sldId id="289" r:id="rId14"/>
    <p:sldId id="26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274618" y="4551452"/>
            <a:ext cx="7044545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AUTOR: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Victor Hugo Nascimento Calheiros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Prof. Me. Carlos Alberto Correia Lessa Filho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COORIENTADOR: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Gabriel Rosendo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CURSO: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Sistemas de Informação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PERÍODO: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2026.2</a:t>
            </a:r>
            <a:endParaRPr lang="pt-BR" sz="16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1640" y="1905000"/>
            <a:ext cx="856872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lnSpc>
                <a:spcPct val="100000"/>
              </a:lnSpc>
            </a:pPr>
            <a:r>
              <a:rPr lang="pt-BR" sz="3400" b="1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INTERPRETARTE</a:t>
            </a:r>
          </a:p>
          <a:p>
            <a:pPr algn="ctr">
              <a:lnSpc>
                <a:spcPct val="100000"/>
              </a:lnSpc>
            </a:pPr>
            <a:r>
              <a:rPr lang="pt-BR" sz="2200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Sistema de acessibilidade em saúde com tradução de Libras por inteligência artificial</a:t>
            </a:r>
            <a:endParaRPr lang="pt-BR" sz="22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Problema e proposta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Informações do software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Metodologia e desenvolvimento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Fluxos, inteligência artificial e demonstração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Resultados parciais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Referências</a:t>
            </a:r>
            <a:endParaRPr lang="pt-BR" sz="23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ROTEIRO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3490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Pessoas surdas enfrentam barreiras de comunicação durante a recepção, a triagem e a consulta.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Interpretarte reúne autoatendimento acessível, gestão clínica e vídeos de orientação em Libras.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experimental reconhece sinais por vídeo como apoio à comunicação.</a:t>
            </a:r>
            <a:endParaRPr lang="pt-BR" sz="21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PROBLEMA E PROPOSTA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INFORMAÇÕES DO SOFTWARE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Interpretarte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Linguagens: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TypeScript, Python e SQL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SQLite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Aplicabilidade: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acessibilidade e organização do atendimento em saúde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Problema tratado: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barreiras de comunicação e autonomia de pacientes surdos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React Native, Expo, FastAPI, TensorFlow/Keras, MediaPipe e OpenCV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Código do registro: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HASH SHA-512: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Repositório: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github.com/Kloppx/tcc-tradutor-libras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ARQUITETURA DO PROJETO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7ED599F-BA09-5F09-FC27-69B20558A142}"/>
              </a:ext>
            </a:extLst>
          </p:cNvPr>
          <p:cNvSpPr/>
          <p:nvPr/>
        </p:nvSpPr>
        <p:spPr>
          <a:xfrm>
            <a:off x="508000" y="2603500"/>
            <a:ext cx="1714500" cy="1460500"/>
          </a:xfrm>
          <a:prstGeom prst="roundRect">
            <a:avLst/>
          </a:prstGeom>
          <a:solidFill>
            <a:srgbClr val="AE4F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APP MÓVEL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React Native + Expo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Paciente e profissionais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47B471B-53EB-1F81-9CC8-0C7EC7915A9A}"/>
              </a:ext>
            </a:extLst>
          </p:cNvPr>
          <p:cNvSpPr/>
          <p:nvPr/>
        </p:nvSpPr>
        <p:spPr>
          <a:xfrm>
            <a:off x="2794000" y="2603500"/>
            <a:ext cx="1714500" cy="1460500"/>
          </a:xfrm>
          <a:prstGeom prst="roundRect">
            <a:avLst/>
          </a:prstGeom>
          <a:solidFill>
            <a:srgbClr val="0081B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API FASTAPI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REST + WebSocket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Regras do atendimento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7E98B2D-0D47-4DDE-BD83-E38FA0CC0321}"/>
              </a:ext>
            </a:extLst>
          </p:cNvPr>
          <p:cNvSpPr/>
          <p:nvPr/>
        </p:nvSpPr>
        <p:spPr>
          <a:xfrm>
            <a:off x="5143500" y="1968500"/>
            <a:ext cx="1651000" cy="1143000"/>
          </a:xfrm>
          <a:prstGeom prst="roundRect">
            <a:avLst/>
          </a:prstGeom>
          <a:solidFill>
            <a:srgbClr val="4B4B5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SQLITE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Cadastros, filas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e dados clínicos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A4722A-F6E0-50D3-C95B-BB97E66B8FCD}"/>
              </a:ext>
            </a:extLst>
          </p:cNvPr>
          <p:cNvSpPr/>
          <p:nvPr/>
        </p:nvSpPr>
        <p:spPr>
          <a:xfrm>
            <a:off x="5143500" y="3492500"/>
            <a:ext cx="3111500" cy="1905000"/>
          </a:xfrm>
          <a:prstGeom prst="roundRect">
            <a:avLst/>
          </a:prstGeom>
          <a:solidFill>
            <a:srgbClr val="009AA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PIPELINE DE IA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Vídeo → MediaPipe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45 quadros × 258 características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Conv1D + GRU bidirecional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Palavra e confiança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D04B3E4-F7F4-BAD0-A6CC-7871C597EC15}"/>
              </a:ext>
            </a:extLst>
          </p:cNvPr>
          <p:cNvCxnSpPr/>
          <p:nvPr/>
        </p:nvCxnSpPr>
        <p:spPr>
          <a:xfrm>
            <a:off x="2222500" y="3327400"/>
            <a:ext cx="571500" cy="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1E53CF6-8484-D118-B903-4B6D6C63A929}"/>
              </a:ext>
            </a:extLst>
          </p:cNvPr>
          <p:cNvCxnSpPr/>
          <p:nvPr/>
        </p:nvCxnSpPr>
        <p:spPr>
          <a:xfrm flipV="1">
            <a:off x="4508500" y="2540000"/>
            <a:ext cx="635000" cy="57150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3FED7E6-DD8E-2806-8782-5C009CA10CFF}"/>
              </a:ext>
            </a:extLst>
          </p:cNvPr>
          <p:cNvCxnSpPr/>
          <p:nvPr/>
        </p:nvCxnSpPr>
        <p:spPr>
          <a:xfrm>
            <a:off x="4508500" y="3556000"/>
            <a:ext cx="635000" cy="88900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8C0030-45AC-CB2C-6390-7BD994798EE3}"/>
              </a:ext>
            </a:extLst>
          </p:cNvPr>
          <p:cNvSpPr txBox="1"/>
          <p:nvPr/>
        </p:nvSpPr>
        <p:spPr>
          <a:xfrm>
            <a:off x="508000" y="5524500"/>
            <a:ext cx="7747000" cy="559127"/>
          </a:xfrm>
          <a:prstGeom prst="rect">
            <a:avLst/>
          </a:prstGeom>
          <a:noFill/>
        </p:spPr>
        <p:txBody>
          <a:bodyPr vert="horz" wrap="square" lIns="88900" tIns="63500" rIns="88900" bIns="63500" rtlCol="0">
            <a:spAutoFit/>
          </a:bodyPr>
          <a:lstStyle/>
          <a:p>
            <a:pPr algn="ctr"/>
            <a:r>
              <a:rPr lang="pt-BR" sz="1400">
                <a:solidFill>
                  <a:srgbClr val="464646"/>
                </a:solidFill>
                <a:latin typeface="Arial" panose="020B0604020202020204" pitchFamily="34" charset="0"/>
              </a:rPr>
              <a:t>O aplicativo envia dados à API, que direciona cada operação ao banco de dados ou ao modelo de reconhecimento de Libras.</a:t>
            </a: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FLUXOS DO SISTEMA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45E84CC-FD86-C29A-0D13-C61292EDF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5178"/>
              </p:ext>
            </p:extLst>
          </p:nvPr>
        </p:nvGraphicFramePr>
        <p:xfrm>
          <a:off x="533400" y="1905000"/>
          <a:ext cx="80772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8413200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327964582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264705888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PERFIL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AÇÃO PRINCIPAL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RESULTADO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54622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Paciente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Escolhe o perfil, faz cadastro ou identificação e solicita atendimento.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Recebe senha e entra na fila.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17743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Enfermagem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Registra sinais vitais e realiza a classificação de risco.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Paciente liberado para consulta.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07388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Médico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Consulta a triagem, registra anamnese, conduta e orientações.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Atendimento finalizado.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26122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Acessibilidade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Exibe orientações em Libras e envia sinais gravados ao tradutor.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Apoio à comunicação no fluxo.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41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DEMONSTRAÇÃO DO PROJETO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3400" y="2095500"/>
            <a:ext cx="260350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Seleção do perfil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Entrada do paciente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Triagem de enfermagem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Atendimento médico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Tradução experimental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E71D193-BE67-3318-A171-3F264B030FFD}"/>
              </a:ext>
            </a:extLst>
          </p:cNvPr>
          <p:cNvSpPr/>
          <p:nvPr/>
        </p:nvSpPr>
        <p:spPr>
          <a:xfrm>
            <a:off x="3556000" y="1968500"/>
            <a:ext cx="4953000" cy="3429000"/>
          </a:xfrm>
          <a:prstGeom prst="roundRect">
            <a:avLst/>
          </a:prstGeom>
          <a:solidFill>
            <a:srgbClr val="27272D"/>
          </a:solidFill>
          <a:ln w="25400">
            <a:solidFill>
              <a:srgbClr val="AE4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pt-BR" sz="1400">
              <a:solidFill>
                <a:srgbClr val="D7D7DC"/>
              </a:solidFill>
              <a:latin typeface="Arial" panose="020B0604020202020204" pitchFamily="34" charset="0"/>
            </a:endParaRPr>
          </a:p>
        </p:txBody>
      </p:sp>
      <p:pic>
        <p:nvPicPr>
          <p:cNvPr id="4" name="Video de demonstracao do InterpretArte" descr="Demonstração do aplicativo InterpretArte: tradução em Libras, cadastro, triagem e atendimento clínico.">
            <a:hlinkClick action="ppaction://media"/>
            <a:extLst>
              <a:ext uri="{FF2B5EF4-FFF2-40B4-BE49-F238E27FC236}">
                <a16:creationId xmlns:a16="http://schemas.microsoft.com/office/drawing/2014/main" id="{F065823D-813D-296D-2DC1-0B687F8FE0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41192" y="1968500"/>
            <a:ext cx="158273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INTELIGÊNCIA ARTIFICIAL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71500" y="1968500"/>
            <a:ext cx="8001000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Entrada: 45 quadros × 258 características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Arquitetura atual: duas camadas Conv1D, duas GRU bidirecionais e camadas densas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Vocabulário: 10 classes relacionadas ao atendimento em saúde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Acurácia do modelo atual no conjunto de teste: 83,67%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Confiabilidade: calibração da confiança e rejeição de previsões incertas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Uso previsto: apoio experimental à comunicação; exige validação humana</a:t>
            </a:r>
            <a:endParaRPr lang="pt-B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0691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RESULTADOS PARCIAIS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882560" y="2032000"/>
            <a:ext cx="4100945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PENDENTES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Consolidar a navegação entre os tradutores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Ampliar o conjunto de dados e o vocabulário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Implementar autenticação por token e autorização por função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Revisar segurança, privacidade e adequação à LGPD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Gerar o HASH e solicitar o registro no INPI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346052" y="2032000"/>
            <a:ext cx="4100945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CONCLUÍDAS</a:t>
            </a:r>
          </a:p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Fluxos de paciente, enfermagem e medicina</a:t>
            </a:r>
          </a:p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API REST integrada ao aplicativo</a:t>
            </a:r>
          </a:p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Persistência de dados em SQLite</a:t>
            </a:r>
          </a:p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Vídeos de orientação em Libras</a:t>
            </a:r>
          </a:p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Modelo atual com 10 classes e 83,67% de acurácia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REFERÊNCIAS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508000" y="1841500"/>
            <a:ext cx="8128000" cy="4254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1600" rIns="101600"/>
          <a:lstStyle/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Repositório do projeto. Disponível em: https://github.com/Kloppx/tcc-tradutor-libras. Acesso em: 7 out.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Relatório de avaliação do modelo. Maceió,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Campo de aplicação para registro de programa de computador. Brasília, DF: INPI.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Tipos de programa para registro de programa de computador. Brasília, DF: INPI.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0" ma:contentTypeDescription="Crie um novo documento." ma:contentTypeScope="" ma:versionID="3deaea57fb388acaae5357727e24321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05ACA91-C63D-441B-B3C7-8E3510CA2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570</Words>
  <Application>Microsoft Office PowerPoint</Application>
  <PresentationFormat>Apresentação na tela (4:3)</PresentationFormat>
  <Paragraphs>99</Paragraphs>
  <Slides>10</Slides>
  <Notes>4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Georgia</vt:lpstr>
      <vt:lpstr>Segoe UI Semibold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VIctor Calheiros</cp:lastModifiedBy>
  <cp:revision>86</cp:revision>
  <dcterms:modified xsi:type="dcterms:W3CDTF">2026-10-19T09:50:50Z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