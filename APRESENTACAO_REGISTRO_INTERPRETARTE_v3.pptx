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7"/>
  </p:notesMasterIdLst>
  <p:sldIdLst>
    <p:sldId id="256" r:id="rId6"/>
    <p:sldId id="257" r:id="rId7"/>
    <p:sldId id="258" r:id="rId8"/>
    <p:sldId id="292" r:id="rId9"/>
    <p:sldId id="293" r:id="rId10"/>
    <p:sldId id="286" r:id="rId11"/>
    <p:sldId id="288" r:id="rId12"/>
    <p:sldId id="296" r:id="rId13"/>
    <p:sldId id="289" r:id="rId14"/>
    <p:sldId id="295" r:id="rId15"/>
    <p:sldId id="266" r:id="rId1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13/10/2026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89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2CA7-24AB-FA98-4CC7-B486DCD4B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F0227BF-A2B3-7ABC-69E4-C2D41C53F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16235A-7627-8500-DBAB-495B78CC9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53A344-F74E-B17C-B7A1-F8F86B4C9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700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274618" y="4551452"/>
            <a:ext cx="7044545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AUTOR: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Victor Hugo Nascimento Calheiros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Prof. Me. Carlos Alberto Correia Lessa Filho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COORIENTADOR: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Gabriel Rosendo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CURSO: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Sistemas de Informação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lang="pt-BR" sz="1600" b="1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PERÍODO:</a:t>
            </a:r>
            <a:r>
              <a:rPr lang="pt-BR" sz="16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 2026.2</a:t>
            </a:r>
            <a:endParaRPr lang="pt-BR" sz="16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251640" y="1905000"/>
            <a:ext cx="856872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lnSpc>
                <a:spcPct val="100000"/>
              </a:lnSpc>
            </a:pPr>
            <a:r>
              <a:rPr lang="pt-BR" sz="3400" b="1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INTERPRETARTE</a:t>
            </a:r>
          </a:p>
          <a:p>
            <a:pPr algn="ctr">
              <a:lnSpc>
                <a:spcPct val="100000"/>
              </a:lnSpc>
            </a:pPr>
            <a:r>
              <a:rPr lang="pt-BR" sz="2200" strike="noStrike" spc="-1">
                <a:solidFill>
                  <a:srgbClr val="000000"/>
                </a:solidFill>
                <a:latin typeface="Arial" panose="020B0604020202020204" pitchFamily="34" charset="0"/>
                <a:ea typeface="Calibri"/>
              </a:rPr>
              <a:t>Sistema de acessibilidade em saúde com tradução de Libras por inteligência artificial</a:t>
            </a:r>
            <a:endParaRPr lang="pt-BR" sz="22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Problema e proposta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Informações do software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Metodologia e desenvolvimento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Fluxos, inteligência artificial e demonstração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Resultados parciais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300" spc="-1">
                <a:solidFill>
                  <a:srgbClr val="000000"/>
                </a:solidFill>
                <a:latin typeface="Arial" panose="020B0604020202020204" pitchFamily="34" charset="0"/>
              </a:rPr>
              <a:t>Conclusão e referências</a:t>
            </a:r>
            <a:endParaRPr lang="pt-BR" sz="23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ROTEIRO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23490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Pessoas surdas enfrentam barreiras de comunicação durante a recepção, a triagem e a consulta.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Interpretarte reúne autoatendimento acessível, gestão clínica e vídeos de orientação em Libras.</a:t>
            </a:r>
          </a:p>
          <a:p>
            <a:pPr marL="355600" indent="-254000">
              <a:lnSpc>
                <a:spcPct val="150000"/>
              </a:lnSpc>
              <a:spcBef>
                <a:spcPts val="300"/>
              </a:spcBef>
              <a:spcAft>
                <a:spcPts val="900"/>
              </a:spcAft>
              <a:buClr>
                <a:srgbClr val="AE4FB6"/>
              </a:buClr>
              <a:buFont typeface="Georgia"/>
              <a:buChar char="•"/>
            </a:pPr>
            <a:r>
              <a:rPr lang="pt-BR" sz="2100" strike="noStrike" spc="-1">
                <a:solidFill>
                  <a:srgbClr val="000000"/>
                </a:solidFill>
                <a:latin typeface="Arial" panose="020B0604020202020204" pitchFamily="34" charset="0"/>
                <a:ea typeface="Georgia"/>
              </a:rPr>
              <a:t>O tradutor experimental reconhece sinais por vídeo como apoio à comunicação.</a:t>
            </a:r>
            <a:endParaRPr lang="pt-BR" sz="21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PROBLEMA E PROPOSTA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INFORMAÇÕES DO SOFTWARE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Interpretarte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Linguagens: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TypeScript, Python e SQL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SQLite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Aplicabilidade: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acessibilidade e organização do atendimento em saúde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Problema tratado: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barreiras de comunicação e autonomia de pacientes surdos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Frameworks: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React Native, Expo, FastAPI, TensorFlow/Keras, MediaPipe e OpenCV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Código do registro: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HASH SHA-512: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Pendente</a:t>
            </a:r>
          </a:p>
          <a:p>
            <a:pPr>
              <a:lnSpc>
                <a:spcPct val="107000"/>
              </a:lnSpc>
              <a:spcAft>
                <a:spcPts val="400"/>
              </a:spcAft>
            </a:pPr>
            <a:r>
              <a:rPr lang="pt-BR" sz="15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Repositório:</a:t>
            </a:r>
            <a:r>
              <a:rPr lang="pt-BR" sz="150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github.com/Kloppx/tcc-tradutor-libras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ARQUITETURA DO PROJETO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7ED599F-BA09-5F09-FC27-69B20558A142}"/>
              </a:ext>
            </a:extLst>
          </p:cNvPr>
          <p:cNvSpPr/>
          <p:nvPr/>
        </p:nvSpPr>
        <p:spPr>
          <a:xfrm>
            <a:off x="508000" y="2603500"/>
            <a:ext cx="1714500" cy="1460500"/>
          </a:xfrm>
          <a:prstGeom prst="roundRect">
            <a:avLst/>
          </a:prstGeom>
          <a:solidFill>
            <a:srgbClr val="AE4FB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APP MÓVEL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React Native + Expo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Paciente e profissionais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47B471B-53EB-1F81-9CC8-0C7EC7915A9A}"/>
              </a:ext>
            </a:extLst>
          </p:cNvPr>
          <p:cNvSpPr/>
          <p:nvPr/>
        </p:nvSpPr>
        <p:spPr>
          <a:xfrm>
            <a:off x="2794000" y="2603500"/>
            <a:ext cx="1714500" cy="1460500"/>
          </a:xfrm>
          <a:prstGeom prst="roundRect">
            <a:avLst/>
          </a:prstGeom>
          <a:solidFill>
            <a:srgbClr val="0081B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API FASTAPI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REST + WebSocket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Regras do atendimento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7E98B2D-0D47-4DDE-BD83-E38FA0CC0321}"/>
              </a:ext>
            </a:extLst>
          </p:cNvPr>
          <p:cNvSpPr/>
          <p:nvPr/>
        </p:nvSpPr>
        <p:spPr>
          <a:xfrm>
            <a:off x="5143500" y="1968500"/>
            <a:ext cx="1651000" cy="1143000"/>
          </a:xfrm>
          <a:prstGeom prst="roundRect">
            <a:avLst/>
          </a:prstGeom>
          <a:solidFill>
            <a:srgbClr val="4B4B55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SQLITE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Cadastros, filas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e dados clínicos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2A4722A-F6E0-50D3-C95B-BB97E66B8FCD}"/>
              </a:ext>
            </a:extLst>
          </p:cNvPr>
          <p:cNvSpPr/>
          <p:nvPr/>
        </p:nvSpPr>
        <p:spPr>
          <a:xfrm>
            <a:off x="5143500" y="3492500"/>
            <a:ext cx="3111500" cy="1905000"/>
          </a:xfrm>
          <a:prstGeom prst="roundRect">
            <a:avLst/>
          </a:prstGeom>
          <a:solidFill>
            <a:srgbClr val="009AA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pt-BR" b="1">
                <a:solidFill>
                  <a:srgbClr val="FFFFFF"/>
                </a:solidFill>
                <a:latin typeface="Arial" panose="020B0604020202020204" pitchFamily="34" charset="0"/>
              </a:rPr>
              <a:t>PIPELINE DE IA</a:t>
            </a:r>
          </a:p>
          <a:p>
            <a:pPr algn="ctr"/>
            <a:r>
              <a:rPr lang="pt-BR" sz="1200">
                <a:solidFill>
                  <a:srgbClr val="FFFFFF"/>
                </a:solidFill>
                <a:latin typeface="Arial" panose="020B0604020202020204" pitchFamily="34" charset="0"/>
              </a:rPr>
              <a:t>Vídeo → MediaPipe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45 quadros × 258 características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Conv1D + GRU bidirecional</a:t>
            </a:r>
          </a:p>
          <a:p>
            <a:pPr algn="ctr"/>
            <a:r>
              <a:rPr lang="pt-BR">
                <a:solidFill>
                  <a:srgbClr val="FFFFFF"/>
                </a:solidFill>
                <a:latin typeface="Arial" panose="020B0604020202020204" pitchFamily="34" charset="0"/>
              </a:rPr>
              <a:t>Palavra e confiança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0D04B3E4-F7F4-BAD0-A6CC-7871C597EC15}"/>
              </a:ext>
            </a:extLst>
          </p:cNvPr>
          <p:cNvCxnSpPr/>
          <p:nvPr/>
        </p:nvCxnSpPr>
        <p:spPr>
          <a:xfrm>
            <a:off x="2222500" y="3327400"/>
            <a:ext cx="571500" cy="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F1E53CF6-8484-D118-B903-4B6D6C63A929}"/>
              </a:ext>
            </a:extLst>
          </p:cNvPr>
          <p:cNvCxnSpPr/>
          <p:nvPr/>
        </p:nvCxnSpPr>
        <p:spPr>
          <a:xfrm flipV="1">
            <a:off x="4508500" y="2540000"/>
            <a:ext cx="635000" cy="57150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3FED7E6-DD8E-2806-8782-5C009CA10CFF}"/>
              </a:ext>
            </a:extLst>
          </p:cNvPr>
          <p:cNvCxnSpPr/>
          <p:nvPr/>
        </p:nvCxnSpPr>
        <p:spPr>
          <a:xfrm>
            <a:off x="4508500" y="3556000"/>
            <a:ext cx="635000" cy="889000"/>
          </a:xfrm>
          <a:prstGeom prst="straightConnector1">
            <a:avLst/>
          </a:prstGeom>
          <a:ln w="28575">
            <a:solidFill>
              <a:srgbClr val="5C5C5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8C0030-45AC-CB2C-6390-7BD994798EE3}"/>
              </a:ext>
            </a:extLst>
          </p:cNvPr>
          <p:cNvSpPr txBox="1"/>
          <p:nvPr/>
        </p:nvSpPr>
        <p:spPr>
          <a:xfrm>
            <a:off x="508000" y="5524500"/>
            <a:ext cx="7747000" cy="559127"/>
          </a:xfrm>
          <a:prstGeom prst="rect">
            <a:avLst/>
          </a:prstGeom>
          <a:noFill/>
        </p:spPr>
        <p:txBody>
          <a:bodyPr vert="horz" wrap="square" lIns="88900" tIns="63500" rIns="88900" bIns="63500" rtlCol="0">
            <a:spAutoFit/>
          </a:bodyPr>
          <a:lstStyle/>
          <a:p>
            <a:pPr algn="ctr"/>
            <a:r>
              <a:rPr lang="pt-BR" sz="1400">
                <a:solidFill>
                  <a:srgbClr val="464646"/>
                </a:solidFill>
                <a:latin typeface="Arial" panose="020B0604020202020204" pitchFamily="34" charset="0"/>
              </a:rPr>
              <a:t>O aplicativo envia dados à API, que direciona cada operação ao banco de dados ou ao modelo de reconhecimento de Libras.</a:t>
            </a: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FLUXOS DO SISTEMA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45E84CC-FD86-C29A-0D13-C61292EDF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5178"/>
              </p:ext>
            </p:extLst>
          </p:nvPr>
        </p:nvGraphicFramePr>
        <p:xfrm>
          <a:off x="533400" y="1905000"/>
          <a:ext cx="8077200" cy="387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8413200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3279645828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3264705888"/>
                    </a:ext>
                  </a:extLst>
                </a:gridCol>
              </a:tblGrid>
              <a:tr h="546100"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PERFIL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AÇÃO PRINCIPAL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5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RESULTADO</a:t>
                      </a:r>
                    </a:p>
                  </a:txBody>
                  <a:tcPr marL="88900" marR="88900" marT="50800" marB="50800" anchor="ctr">
                    <a:solidFill>
                      <a:srgbClr val="AE4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54622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Paciente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Escolhe o perfil, faz cadastro ou identificação e solicita atendimento.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Recebe senha e entra na fila.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17743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Enfermagem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Registra sinais vitais e realiza a classificação de risco.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Paciente liberado para consulta.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07388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Médico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Consulta a triagem, registra anamnese, conduta e orientações.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Atendimento finalizado.</a:t>
                      </a:r>
                    </a:p>
                  </a:txBody>
                  <a:tcPr marL="88900" marR="88900" marT="50800" marB="50800" anchor="ctr">
                    <a:solidFill>
                      <a:srgbClr val="F2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26122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Acessibilidade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Exibe orientações em Libras e envia sinais gravados ao tradutor.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Apoio à comunicação no fluxo.</a:t>
                      </a:r>
                    </a:p>
                  </a:txBody>
                  <a:tcPr marL="88900" marR="889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41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DEMONSTRAÇÃO DO PROJETO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33400" y="2095500"/>
            <a:ext cx="260350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Seleção do perfil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Entrada do paciente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Triagem de enfermagem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Atendimento médico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+mj-lt"/>
              <a:buAutoNum type="arabicPeriod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Tradução experimental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E71D193-BE67-3318-A171-3F264B030FFD}"/>
              </a:ext>
            </a:extLst>
          </p:cNvPr>
          <p:cNvSpPr/>
          <p:nvPr/>
        </p:nvSpPr>
        <p:spPr>
          <a:xfrm>
            <a:off x="3556000" y="1968500"/>
            <a:ext cx="4953000" cy="3429000"/>
          </a:xfrm>
          <a:prstGeom prst="roundRect">
            <a:avLst/>
          </a:prstGeom>
          <a:solidFill>
            <a:srgbClr val="27272D"/>
          </a:solidFill>
          <a:ln w="25400">
            <a:solidFill>
              <a:srgbClr val="AE4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pt-BR" sz="3800">
                <a:solidFill>
                  <a:srgbClr val="FFC900"/>
                </a:solidFill>
                <a:latin typeface="Arial" panose="020B0604020202020204" pitchFamily="34" charset="0"/>
              </a:rPr>
              <a:t>▶</a:t>
            </a:r>
          </a:p>
          <a:p>
            <a:pPr algn="ctr"/>
            <a:r>
              <a:rPr lang="pt-BR" sz="1900" b="1">
                <a:solidFill>
                  <a:srgbClr val="FFFFFF"/>
                </a:solidFill>
                <a:latin typeface="Arial" panose="020B0604020202020204" pitchFamily="34" charset="0"/>
              </a:rPr>
              <a:t>VÍDEO DO PROTÓTIPO</a:t>
            </a:r>
          </a:p>
          <a:p>
            <a:pPr algn="ctr"/>
            <a:endParaRPr lang="pt-BR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/>
            <a:r>
              <a:rPr lang="pt-BR" sz="1400">
                <a:solidFill>
                  <a:srgbClr val="D7D7DC"/>
                </a:solidFill>
                <a:latin typeface="Arial" panose="020B0604020202020204" pitchFamily="34" charset="0"/>
              </a:rPr>
              <a:t>Inserir gravação do aplicativo em execução (MP4)</a:t>
            </a:r>
          </a:p>
        </p:txBody>
      </p:sp>
    </p:spTree>
    <p:extLst>
      <p:ext uri="{BB962C8B-B14F-4D97-AF65-F5344CB8AC3E}">
        <p14:creationId xmlns:p14="http://schemas.microsoft.com/office/powerpoint/2010/main" val="208695552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INTELIGÊNCIA ARTIFICIAL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71500" y="1968500"/>
            <a:ext cx="8001000" cy="2608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Entrada: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45 quadros × 258 características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Arquitetura atual: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duas camadas Conv1D, duas GRU bidirecionais e camadas densas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Vocabulário: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10 classes relacionadas ao atendimento em saúde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Acurácia do modelo v2 no conjunto de teste: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81,63%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Confiabilidade: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calibração da confiança e rejeição de previsões incertas</a:t>
            </a:r>
          </a:p>
          <a:p>
            <a:pPr>
              <a:spcAft>
                <a:spcPts val="900"/>
              </a:spcAft>
            </a:pPr>
            <a:r>
              <a:rPr lang="pt-BR" b="1">
                <a:solidFill>
                  <a:srgbClr val="000000"/>
                </a:solidFill>
                <a:latin typeface="Arial" panose="020B0604020202020204" pitchFamily="34" charset="0"/>
              </a:rPr>
              <a:t>Uso previsto:</a:t>
            </a:r>
            <a:r>
              <a:rPr lang="pt-BR">
                <a:solidFill>
                  <a:srgbClr val="000000"/>
                </a:solidFill>
                <a:latin typeface="Arial" panose="020B0604020202020204" pitchFamily="34" charset="0"/>
              </a:rPr>
              <a:t> apoio experimental à comunicação; exige validação humana</a:t>
            </a:r>
            <a:endParaRPr lang="pt-BR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80691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RESULTADOS PARCIAIS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882560" y="2032000"/>
            <a:ext cx="4100945" cy="354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PENDENTES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Consolidar a navegação entre os tradutores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Ampliar o conjunto de dados e o vocabulário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Implementar autenticação por token e autorização por função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Revisar segurança, privacidade e adequação à LGPD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Gerar o HASH e solicitar o registro no INPI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346052" y="2032000"/>
            <a:ext cx="4100945" cy="27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1600">
              <a:spcAft>
                <a:spcPts val="900"/>
              </a:spcAft>
              <a:buClr>
                <a:srgbClr val="AE4FB6"/>
              </a:buClr>
            </a:pPr>
            <a:r>
              <a:rPr lang="pt-BR" sz="1700" b="1">
                <a:solidFill>
                  <a:srgbClr val="000000"/>
                </a:solidFill>
                <a:latin typeface="Arial" panose="020B0604020202020204" pitchFamily="34" charset="0"/>
              </a:rPr>
              <a:t>ETAPAS CONCLUÍDAS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Fluxos de paciente, enfermagem e medicina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API REST integrada ao aplicativo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Persistência de dados em SQLite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Vídeos de orientação em Libras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1700">
                <a:solidFill>
                  <a:srgbClr val="000000"/>
                </a:solidFill>
                <a:latin typeface="Arial" panose="020B0604020202020204" pitchFamily="34" charset="0"/>
              </a:rPr>
              <a:t>Modelo v2 com 10 classes e 81,63% de acurácia</a:t>
            </a:r>
            <a:endParaRPr lang="pt-BR" sz="1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79B7-C1B3-7736-FB6D-E66031C4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>
            <a:extLst>
              <a:ext uri="{FF2B5EF4-FFF2-40B4-BE49-F238E27FC236}">
                <a16:creationId xmlns:a16="http://schemas.microsoft.com/office/drawing/2014/main" id="{3192A28B-CFC7-ACD1-0130-B2F63C58CBC0}"/>
              </a:ext>
            </a:extLst>
          </p:cNvPr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pc="-1">
                <a:solidFill>
                  <a:srgbClr val="000000"/>
                </a:solidFill>
                <a:latin typeface="Segoe UI Semibold" panose="020B0702040204020203" pitchFamily="34" charset="0"/>
              </a:rPr>
              <a:t>CONCLUSÃO</a:t>
            </a:r>
            <a:endParaRPr lang="pt-BR" sz="3800" b="1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3796C4-88DF-7CC4-9B1E-16BEF821484E}"/>
              </a:ext>
            </a:extLst>
          </p:cNvPr>
          <p:cNvSpPr txBox="1"/>
          <p:nvPr/>
        </p:nvSpPr>
        <p:spPr>
          <a:xfrm>
            <a:off x="471055" y="2032000"/>
            <a:ext cx="8257309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protótipo integra acessibilidade, autoatendimento e organização do fluxo clínico.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modelo v2 reconhece 10 sinais e alcançou 81,63% de acurácia no conjunto de teste.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 reconhecimento permanece experimental e não substitui intérprete ou avaliação clínica.</a:t>
            </a:r>
          </a:p>
          <a:p>
            <a:pPr marL="355600" indent="-254000">
              <a:spcAft>
                <a:spcPts val="900"/>
              </a:spcAft>
              <a:buClr>
                <a:srgbClr val="AE4FB6"/>
              </a:buClr>
              <a:buFont typeface="Arial" panose="020B0604020202020204" pitchFamily="34" charset="0"/>
              <a:buChar char="•"/>
            </a:pPr>
            <a:r>
              <a:rPr lang="pt-BR" sz="2100">
                <a:solidFill>
                  <a:srgbClr val="000000"/>
                </a:solidFill>
                <a:latin typeface="Arial" panose="020B0604020202020204" pitchFamily="34" charset="0"/>
              </a:rPr>
              <a:t>Os próximos passos concentram-se em segurança, ampliação do dataset e consolidação do aplicativo.</a:t>
            </a:r>
            <a:endParaRPr lang="pt-BR" sz="21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23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wrap="square"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>
                <a:solidFill>
                  <a:srgbClr val="000000"/>
                </a:solidFill>
                <a:latin typeface="Segoe UI Semibold" panose="020B0702040204020203" pitchFamily="34" charset="0"/>
                <a:ea typeface="Trebuchet MS"/>
              </a:rPr>
              <a:t>REFERÊNCIAS</a:t>
            </a:r>
            <a:endParaRPr lang="pt-BR" sz="3800" b="1" strike="noStrike" spc="-1" dirty="0">
              <a:solidFill>
                <a:srgbClr val="000000"/>
              </a:solidFill>
              <a:latin typeface="Segoe UI Semibold" panose="020B0702040204020203" pitchFamily="34" charset="0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508000" y="1841500"/>
            <a:ext cx="8128000" cy="42545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01600" rIns="101600"/>
          <a:lstStyle/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Repositório do projeto. Disponível em: https://github.com/Kloppx/tcc-tradutor-libras. Acesso em: 7 out.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INTERPRETARTE. Relatório de avaliação do modelo. Maceió, 2026.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Campo de aplicação para registro de programa de computador. Brasília, DF: INPI.</a:t>
            </a: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endParaRPr lang="pt-BR" sz="1500" strike="noStrike" spc="-1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86480">
              <a:lnSpc>
                <a:spcPct val="80000"/>
              </a:lnSpc>
              <a:spcAft>
                <a:spcPts val="700"/>
              </a:spcAft>
            </a:pPr>
            <a:r>
              <a:rPr lang="pt-BR" sz="1500" strike="noStrike" spc="-1">
                <a:solidFill>
                  <a:srgbClr val="000000"/>
                </a:solidFill>
                <a:latin typeface="Arial" panose="020B0604020202020204" pitchFamily="34" charset="0"/>
              </a:rPr>
              <a:t>INSTITUTO NACIONAL DA PROPRIEDADE INDUSTRIAL. Tipos de programa para registro de programa de computador. Brasília, DF: INPI.</a:t>
            </a:r>
            <a:endParaRPr lang="pt-BR" sz="1500" strike="noStrike" spc="-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0" ma:contentTypeDescription="Crie um novo documento." ma:contentTypeScope="" ma:versionID="3deaea57fb388acaae5357727e24321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5ACA91-C63D-441B-B3C7-8E3510CA2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643</Words>
  <Application>Microsoft Office PowerPoint</Application>
  <PresentationFormat>Apresentação na tela (4:3)</PresentationFormat>
  <Paragraphs>109</Paragraphs>
  <Slides>11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Georgia</vt:lpstr>
      <vt:lpstr>Segoe UI Semibold</vt:lpstr>
      <vt:lpstr>Symbol</vt:lpstr>
      <vt:lpstr>Times New Roman</vt:lpstr>
      <vt:lpstr>Wingdings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VIctor Calheiros</cp:lastModifiedBy>
  <cp:revision>83</cp:revision>
  <dcterms:modified xsi:type="dcterms:W3CDTF">2026-10-13T22:44:09Z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