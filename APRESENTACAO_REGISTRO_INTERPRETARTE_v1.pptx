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bookmarkIdSeed="2">
  <p:sldMasterIdLst>
    <p:sldMasterId id="2147483648" r:id="rId4"/>
    <p:sldMasterId id="2147483661" r:id="rId5"/>
  </p:sldMasterIdLst>
  <p:notesMasterIdLst>
    <p:notesMasterId r:id="rId16"/>
  </p:notesMasterIdLst>
  <p:sldIdLst>
    <p:sldId id="256" r:id="rId6"/>
    <p:sldId id="257" r:id="rId7"/>
    <p:sldId id="258" r:id="rId8"/>
    <p:sldId id="292" r:id="rId9"/>
    <p:sldId id="293" r:id="rId10"/>
    <p:sldId id="286" r:id="rId11"/>
    <p:sldId id="288" r:id="rId12"/>
    <p:sldId id="289" r:id="rId13"/>
    <p:sldId id="295" r:id="rId14"/>
    <p:sldId id="266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B0D120-E3A5-46A2-9E77-26D4C80A85A8}" type="datetimeFigureOut">
              <a:rPr lang="pt-BR" smtClean="0"/>
              <a:t>07/10/2026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A6D91-F583-4734-BE11-E0672727590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845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1263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689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919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2CA7-24AB-FA98-4CC7-B486DCD4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0227BF-A2B3-7ABC-69E4-C2D41C53F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D16235A-7627-8500-DBAB-495B78CC9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53A344-F74E-B17C-B7A1-F8F86B4C9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9700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 11"/>
          <p:cNvPicPr/>
          <p:nvPr/>
        </p:nvPicPr>
        <p:blipFill>
          <a:blip r:embed="rId14"/>
          <a:stretch/>
        </p:blipFill>
        <p:spPr>
          <a:xfrm rot="16200000">
            <a:off x="4272120" y="1986480"/>
            <a:ext cx="599040" cy="9143640"/>
          </a:xfrm>
          <a:prstGeom prst="rect">
            <a:avLst/>
          </a:prstGeom>
          <a:ln>
            <a:noFill/>
          </a:ln>
        </p:spPr>
      </p:pic>
      <p:pic>
        <p:nvPicPr>
          <p:cNvPr id="8" name="Shape 12"/>
          <p:cNvPicPr/>
          <p:nvPr/>
        </p:nvPicPr>
        <p:blipFill>
          <a:blip r:embed="rId15"/>
          <a:stretch/>
        </p:blipFill>
        <p:spPr>
          <a:xfrm>
            <a:off x="6906240" y="67320"/>
            <a:ext cx="2186640" cy="642960"/>
          </a:xfrm>
          <a:prstGeom prst="rect">
            <a:avLst/>
          </a:prstGeom>
          <a:ln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tIns="91440" bIns="91440" anchor="ctr"/>
          <a:lstStyle/>
          <a:p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Shape 11"/>
          <p:cNvPicPr/>
          <p:nvPr/>
        </p:nvPicPr>
        <p:blipFill>
          <a:blip r:embed="rId14"/>
          <a:stretch/>
        </p:blipFill>
        <p:spPr>
          <a:xfrm rot="16200000">
            <a:off x="4272120" y="1986480"/>
            <a:ext cx="599040" cy="9143640"/>
          </a:xfrm>
          <a:prstGeom prst="rect">
            <a:avLst/>
          </a:prstGeom>
          <a:ln>
            <a:noFill/>
          </a:ln>
        </p:spPr>
      </p:pic>
      <p:pic>
        <p:nvPicPr>
          <p:cNvPr id="44" name="Shape 12"/>
          <p:cNvPicPr/>
          <p:nvPr/>
        </p:nvPicPr>
        <p:blipFill>
          <a:blip r:embed="rId15"/>
          <a:stretch/>
        </p:blipFill>
        <p:spPr>
          <a:xfrm>
            <a:off x="6906240" y="67320"/>
            <a:ext cx="2186640" cy="642960"/>
          </a:xfrm>
          <a:prstGeom prst="rect">
            <a:avLst/>
          </a:prstGeom>
          <a:ln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tIns="91440" bIns="91440" anchor="ctr"/>
          <a:lstStyle/>
          <a:p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tIns="91440" bIns="91440"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1274618" y="4551452"/>
            <a:ext cx="7044545" cy="16675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7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AUTOR:</a:t>
            </a:r>
            <a:r>
              <a:rPr lang="pt-BR" sz="17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Victor Hugo Nascimento Calheiros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7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ORIENTADOR:</a:t>
            </a:r>
            <a:r>
              <a:rPr lang="pt-BR" sz="17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Prof. Me. Carlos Alberto Correia Lessa Filho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7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CURSO:</a:t>
            </a:r>
            <a:r>
              <a:rPr lang="pt-BR" sz="17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Sistemas de Informação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7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PERÍODO:</a:t>
            </a:r>
            <a:r>
              <a:rPr lang="pt-BR" sz="17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2026.2</a:t>
            </a:r>
            <a:endParaRPr lang="pt-BR" sz="17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251640" y="1905000"/>
            <a:ext cx="8568720" cy="1714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lnSpc>
                <a:spcPct val="100000"/>
              </a:lnSpc>
            </a:pPr>
            <a:r>
              <a:rPr lang="pt-BR" sz="3400" b="1" strike="noStrike" spc="-1">
                <a:solidFill>
                  <a:srgbClr val="000000"/>
                </a:solidFill>
                <a:latin typeface="Arial" panose="020B0604020202020204" pitchFamily="34" charset="0"/>
                <a:ea typeface="Calibri"/>
              </a:rPr>
              <a:t>INTERPRETARTE</a:t>
            </a:r>
          </a:p>
          <a:p>
            <a:pPr algn="ctr">
              <a:lnSpc>
                <a:spcPct val="100000"/>
              </a:lnSpc>
            </a:pPr>
            <a:r>
              <a:rPr lang="pt-BR" sz="2200" strike="noStrike" spc="-1">
                <a:solidFill>
                  <a:srgbClr val="000000"/>
                </a:solidFill>
                <a:latin typeface="Arial" panose="020B0604020202020204" pitchFamily="34" charset="0"/>
                <a:ea typeface="Calibri"/>
              </a:rPr>
              <a:t>Sistema de acessibilidade em saúde com tradução de Libras por inteligência artificial</a:t>
            </a:r>
            <a:endParaRPr lang="pt-BR" sz="22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1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457200" y="1914120"/>
            <a:ext cx="8229240" cy="4491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500" spc="-1">
                <a:solidFill>
                  <a:srgbClr val="000000"/>
                </a:solidFill>
                <a:latin typeface="Arial" panose="020B0604020202020204" pitchFamily="34" charset="0"/>
              </a:rPr>
              <a:t>Problema e proposta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500" spc="-1">
                <a:solidFill>
                  <a:srgbClr val="000000"/>
                </a:solidFill>
                <a:latin typeface="Arial" panose="020B0604020202020204" pitchFamily="34" charset="0"/>
              </a:rPr>
              <a:t>Informações do software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500" spc="-1">
                <a:solidFill>
                  <a:srgbClr val="000000"/>
                </a:solidFill>
                <a:latin typeface="Arial" panose="020B0604020202020204" pitchFamily="34" charset="0"/>
              </a:rPr>
              <a:t>Metodologia e desenvolvimento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500" spc="-1">
                <a:solidFill>
                  <a:srgbClr val="000000"/>
                </a:solidFill>
                <a:latin typeface="Arial" panose="020B0604020202020204" pitchFamily="34" charset="0"/>
              </a:rPr>
              <a:t>Fluxos e inteligência artificial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500" spc="-1">
                <a:solidFill>
                  <a:srgbClr val="000000"/>
                </a:solidFill>
                <a:latin typeface="Arial" panose="020B0604020202020204" pitchFamily="34" charset="0"/>
              </a:rPr>
              <a:t>Resultados parciais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500" spc="-1">
                <a:solidFill>
                  <a:srgbClr val="000000"/>
                </a:solidFill>
                <a:latin typeface="Arial" panose="020B0604020202020204" pitchFamily="34" charset="0"/>
              </a:rPr>
              <a:t>Conclusão e referências</a:t>
            </a:r>
            <a:endParaRPr lang="pt-BR" sz="25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457200" y="69264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ROTEIRO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457200" y="2349000"/>
            <a:ext cx="8229240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1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Pessoas surdas enfrentam barreiras de comunicação durante a recepção, a triagem e a consulta.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1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O Interpretarte reúne autoatendimento acessível, gestão clínica e vídeos de orientação em Libras.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1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O tradutor experimental reconhece sinais por vídeo como apoio à comunicação.</a:t>
            </a:r>
            <a:endParaRPr lang="pt-BR" sz="21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457200" y="734496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PROBLEMA E PROPOSTA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57200" y="65674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INFORMAÇÕES DO SOFTWARE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CustomShape 1"/>
          <p:cNvSpPr/>
          <p:nvPr/>
        </p:nvSpPr>
        <p:spPr>
          <a:xfrm>
            <a:off x="325402" y="1885212"/>
            <a:ext cx="8492836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Nome do produto: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Interpretarte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Linguagens: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TypeScript, Python e SQL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Banco de dados: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SQLite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Aplicabilidade: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acessibilidade e organização do atendimento em saúde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Problema tratado: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barreiras de comunicação e autonomia de pacientes surdos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Frameworks: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React Native, Expo, FastAPI, TensorFlow/Keras, MediaPipe e OpenCV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Código do registro: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Pendente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HASH SHA-512: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Pendente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Repositório: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github.com/Kloppx/tcc-tradutor-libras</a:t>
            </a:r>
            <a:endParaRPr lang="pt-BR" sz="15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96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84632" y="915948"/>
            <a:ext cx="8492836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METODOLOGIA E DESENVOLVIMENTO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55BD0D4C-585C-489A-9591-CF49A9D6FD5E}"/>
              </a:ext>
            </a:extLst>
          </p:cNvPr>
          <p:cNvSpPr/>
          <p:nvPr/>
        </p:nvSpPr>
        <p:spPr>
          <a:xfrm>
            <a:off x="457380" y="1745496"/>
            <a:ext cx="8229240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0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Aplicativo móvel desenvolvido com React Native, Expo e TypeScript.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0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API REST em FastAPI para autenticação e gestão do atendimento, com dados persistidos em SQLite.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0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O tradutor utiliza upload de vídeo e mantém o fluxo experimental por WebSocket.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0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MediaPipe extrai 258 características por quadro; o modelo processa sequências de 45 quadros.</a:t>
            </a:r>
            <a:endParaRPr lang="pt-BR" sz="20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77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FLUXOS DO SISTEMA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471055" y="1968500"/>
            <a:ext cx="825730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Paciente: seleciona o perfil, realiza cadastro ou identificação e recebe uma senha.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Enfermagem: acompanha a fila, registra sinais vitais e conclui a classificação de risco.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Médico: consulta pacientes triados, registra anamnese e conduta e finaliza o atendimento.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Acessibilidade: vídeos locais em Libras apoiam as telas iniciais e a recepção.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2000">
                <a:solidFill>
                  <a:srgbClr val="000000"/>
                </a:solidFill>
                <a:latin typeface="Arial" panose="020B0604020202020204" pitchFamily="34" charset="0"/>
              </a:rPr>
              <a:t>Tradutor: grava um sinal de 3 segundos, envia o vídeo à API e apresenta palavra e confiança.</a:t>
            </a:r>
            <a:endParaRPr lang="pt-BR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48238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INTELIGÊNCIA ARTIFICIAL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71500" y="1968500"/>
            <a:ext cx="800100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100" b="1">
                <a:solidFill>
                  <a:srgbClr val="000000"/>
                </a:solidFill>
                <a:latin typeface="Arial" panose="020B0604020202020204" pitchFamily="34" charset="0"/>
              </a:rPr>
              <a:t>Entrada:</a:t>
            </a: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 45 quadros × 258 características</a:t>
            </a:r>
          </a:p>
          <a:p>
            <a:pPr>
              <a:spcAft>
                <a:spcPts val="1200"/>
              </a:spcAft>
            </a:pPr>
            <a:r>
              <a:rPr lang="pt-BR" sz="2100" b="1">
                <a:solidFill>
                  <a:srgbClr val="000000"/>
                </a:solidFill>
                <a:latin typeface="Arial" panose="020B0604020202020204" pitchFamily="34" charset="0"/>
              </a:rPr>
              <a:t>Arquitetura atual:</a:t>
            </a: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 duas camadas Conv1D, duas GRU bidirecionais e camadas densas</a:t>
            </a:r>
          </a:p>
          <a:p>
            <a:pPr>
              <a:spcAft>
                <a:spcPts val="1200"/>
              </a:spcAft>
            </a:pPr>
            <a:r>
              <a:rPr lang="pt-BR" sz="2100" b="1">
                <a:solidFill>
                  <a:srgbClr val="000000"/>
                </a:solidFill>
                <a:latin typeface="Arial" panose="020B0604020202020204" pitchFamily="34" charset="0"/>
              </a:rPr>
              <a:t>Vocabulário:</a:t>
            </a: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 10 classes relacionadas ao atendimento em saúde</a:t>
            </a:r>
          </a:p>
          <a:p>
            <a:pPr>
              <a:spcAft>
                <a:spcPts val="1200"/>
              </a:spcAft>
            </a:pPr>
            <a:r>
              <a:rPr lang="pt-BR" sz="2100" b="1">
                <a:solidFill>
                  <a:srgbClr val="000000"/>
                </a:solidFill>
                <a:latin typeface="Arial" panose="020B0604020202020204" pitchFamily="34" charset="0"/>
              </a:rPr>
              <a:t>Acurácia no conjunto de teste:</a:t>
            </a: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 73,47%</a:t>
            </a:r>
          </a:p>
          <a:p>
            <a:pPr>
              <a:spcAft>
                <a:spcPts val="1200"/>
              </a:spcAft>
            </a:pPr>
            <a:r>
              <a:rPr lang="pt-BR" sz="2100" b="1">
                <a:solidFill>
                  <a:srgbClr val="000000"/>
                </a:solidFill>
                <a:latin typeface="Arial" panose="020B0604020202020204" pitchFamily="34" charset="0"/>
              </a:rPr>
              <a:t>Uso previsto:</a:t>
            </a: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 apoio experimental à comunicação; exige validação humana</a:t>
            </a:r>
            <a:endParaRPr lang="pt-BR" sz="21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95552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RESULTADOS PARCIAIS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4882560" y="2032000"/>
            <a:ext cx="4100945" cy="354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1600">
              <a:spcAft>
                <a:spcPts val="900"/>
              </a:spcAft>
              <a:buClr>
                <a:srgbClr val="AE4FB6"/>
              </a:buClr>
            </a:pPr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ETAPAS PENDENTES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Consolidar a navegação entre os tradutores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Ampliar o conjunto de dados e o vocabulário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Implementar autenticação por token e autorização por função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Revisar segurança, privacidade e adequação à LGPD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Gerar o HASH e solicitar o registro no INPI</a:t>
            </a:r>
            <a:endParaRPr lang="pt-BR" sz="17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95BB70-7287-B812-E0B1-6C0531C268DB}"/>
              </a:ext>
            </a:extLst>
          </p:cNvPr>
          <p:cNvSpPr txBox="1"/>
          <p:nvPr/>
        </p:nvSpPr>
        <p:spPr>
          <a:xfrm>
            <a:off x="346052" y="2032000"/>
            <a:ext cx="4100945" cy="2762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1600">
              <a:spcAft>
                <a:spcPts val="900"/>
              </a:spcAft>
              <a:buClr>
                <a:srgbClr val="AE4FB6"/>
              </a:buClr>
            </a:pPr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ETAPAS CONCLUÍDAS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Fluxos de paciente, enfermagem e medicina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API REST integrada ao aplicativo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Persistência de dados em SQLite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Vídeos de orientação em Libras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Modelo com 10 classes e 73,47% de acurácia</a:t>
            </a:r>
            <a:endParaRPr lang="pt-BR" sz="17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640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679B7-C1B3-7736-FB6D-E66031C4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>
            <a:extLst>
              <a:ext uri="{FF2B5EF4-FFF2-40B4-BE49-F238E27FC236}">
                <a16:creationId xmlns:a16="http://schemas.microsoft.com/office/drawing/2014/main" id="{3192A28B-CFC7-ACD1-0130-B2F63C58CBC0}"/>
              </a:ext>
            </a:extLst>
          </p:cNvPr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CONCLUSÃO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73796C4-88DF-7CC4-9B1E-16BEF821484E}"/>
              </a:ext>
            </a:extLst>
          </p:cNvPr>
          <p:cNvSpPr txBox="1"/>
          <p:nvPr/>
        </p:nvSpPr>
        <p:spPr>
          <a:xfrm>
            <a:off x="471055" y="2032000"/>
            <a:ext cx="8257309" cy="302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O protótipo integra acessibilidade, autoatendimento e organização do fluxo clínico.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A versão atual reconhece 10 sinais e alcançou 73,47% de acurácia no conjunto de teste.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O reconhecimento permanece experimental e não substitui intérprete ou avaliação clínica.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Os próximos passos concentram-se em segurança, ampliação do dataset e consolidação do aplicativo.</a:t>
            </a:r>
            <a:endParaRPr lang="pt-BR" sz="21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623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457200" y="119664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REFERÊNCIAS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508000" y="1841500"/>
            <a:ext cx="8128000" cy="42545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1600" rIns="101600"/>
          <a:lstStyle/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INTERPRETARTE. Repositório do projeto. Disponível em: https://github.com/Kloppx/tcc-tradutor-libras. Acesso em: 16 ago. 2026.</a:t>
            </a: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endParaRPr lang="pt-BR" sz="1500" strike="noStrike" spc="-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INTERPRETARTE. Relatório de avaliação do modelo. Maceió, 2026.</a:t>
            </a: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endParaRPr lang="pt-BR" sz="1500" strike="noStrike" spc="-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INSTITUTO NACIONAL DA PROPRIEDADE INDUSTRIAL. Campo de aplicação para registro de programa de computador. Brasília, DF: INPI.</a:t>
            </a: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endParaRPr lang="pt-BR" sz="1500" strike="noStrike" spc="-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INSTITUTO NACIONAL DA PROPRIEDADE INDUSTRIAL. Tipos de programa para registro de programa de computador. Brasília, DF: INPI.</a:t>
            </a:r>
            <a:endParaRPr lang="pt-BR" sz="15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3F71F19FE9494DB43BA52CAB15BA66" ma:contentTypeVersion="0" ma:contentTypeDescription="Crie um novo documento." ma:contentTypeScope="" ma:versionID="3deaea57fb388acaae5357727e24321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59dbc040a3f85ddd093e31795c9c73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17936A-8554-47B6-9C0A-00A2652E40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C8FE693-0D74-485B-8764-0BC9E2AACF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5ACA91-C63D-441B-B3C7-8E3510CA23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Words>592</Words>
  <Application>Microsoft Office PowerPoint</Application>
  <PresentationFormat>Apresentação na tela (4:3)</PresentationFormat>
  <Paragraphs>75</Paragraphs>
  <Slides>10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Arial</vt:lpstr>
      <vt:lpstr>Calibri</vt:lpstr>
      <vt:lpstr>Georgia</vt:lpstr>
      <vt:lpstr>Segoe UI Semibold</vt:lpstr>
      <vt:lpstr>Symbol</vt:lpstr>
      <vt:lpstr>Times New Roman</vt:lpstr>
      <vt:lpstr>Wingdings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Nathalia de Lima Santos</dc:creator>
  <dc:description/>
  <cp:lastModifiedBy>VIctor Calheiros</cp:lastModifiedBy>
  <cp:revision>83</cp:revision>
  <dcterms:modified xsi:type="dcterms:W3CDTF">2026-10-07T23:26:54Z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1</vt:i4>
  </property>
  <property fmtid="{D5CDD505-2E9C-101B-9397-08002B2CF9AE}" pid="7" name="Notes">
    <vt:i4>10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10</vt:i4>
  </property>
  <property fmtid="{D5CDD505-2E9C-101B-9397-08002B2CF9AE}" pid="12" name="ContentTypeId">
    <vt:lpwstr>0x010100BB3F71F19FE9494DB43BA52CAB15BA66</vt:lpwstr>
  </property>
</Properties>
</file>